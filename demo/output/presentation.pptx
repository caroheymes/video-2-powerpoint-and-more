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de la présentation, cadrage du sujet et annonce des objectifs de la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importe de créer des moments de silence dans nos vies professionnelles pour favoriser la créativité. Ces moments permettent au cerveau de se recharger et de faire des connexions nouvelles, essentielles pour l'innovation.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reconnecter à l'énergie des rêves permet d'explorer des idées sans limites. Encourager les équipes à exprimer des idées, même les plus farfelues, ouvre la porte à des solutions innovantes.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Apprendre à relâcher le contrôle est essentiel pour stimuler la créativité. Cela permet aux idées de circuler librement sans la contrainte de la perfection.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que ces stratégies soient efficaces, il importe de les intégrer dans la culture d'entreprise. Cela nécessite un engagement de la part de la direction pour valoriser la créativité et le bien-être des employés.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mesurer l'efficacité des stratégies mises en œuvre, il importe de définir des indicateurs de performance clairs. Cela permet d'ajuster les pratiques et d'identifier les domaines d'amélioration.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il est important de comprendre que la créativité est un voyage. En adoptant ces stratégies, nous pouvons encourager une culture d'expérimentation et d'innovation continue au sein de nos équipes.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encourage tous à mettre en pratique ces stratégies et à partager vos expériences. Ensemble, nous pouvons créer une communauté de soutien autour de la créativité au sein de notre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ceux qui souhaitent approfondir leur compréhension de la créativité, je vais partager quelques ressources supplémentaires. Ces outils peuvent vous aider à développer vos compétences créatives.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invite maintenant à poser vos questions. C'est un moment pour échanger et clarifier les idées que nous avons abordées aujourd'hui.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1828800"/>
            <a:ext cx="9966960" cy="3200400"/>
          </a:xfrm>
          <a:prstGeom prst="rect">
            <a:avLst/>
          </a:prstGeom>
          <a:noFill/>
        </p:spPr>
        <p:txBody>
          <a:bodyPr wrap="square">
            <a:spAutoFit/>
          </a:bodyPr>
          <a:lstStyle/>
          <a:p>
            <a:pPr>
              <a:defRPr sz="4000" b="1">
                <a:solidFill>
                  <a:srgbClr val="38BDF8"/>
                </a:solidFill>
              </a:defRPr>
            </a:pPr>
            <a:r>
              <a:t>stimuler la créativité</a:t>
            </a:r>
          </a:p>
          <a:p>
            <a:pPr>
              <a:spcBef>
                <a:spcPts val="1600"/>
              </a:spcBef>
              <a:defRPr sz="2000">
                <a:solidFill>
                  <a:srgbClr val="94A3B8"/>
                </a:solidFill>
              </a:defRPr>
            </a:pPr>
            <a:r>
              <a:t>Stratégies pour Libérer l'Innovation et la Créativité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L'Importance du Silence</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Le silence est un catalyseur essentiel pour la créativité.</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Instaurer des moments de silence quotidien pour favoriser la créativité et la concentration, en permettant au cerveau de se recharger.</a:t>
            </a:r>
          </a:p>
          <a:p>
            <a:pPr>
              <a:spcAft>
                <a:spcPts val="1200"/>
              </a:spcAft>
              <a:defRPr sz="1350">
                <a:solidFill>
                  <a:srgbClr val="F8FAFC"/>
                </a:solidFill>
              </a:defRPr>
            </a:pPr>
            <a:r>
              <a:t>•  Encourager des rituels d'équipe où le silence est valorisé, permettant ainsi à chacun de se recentrer sur ses idées et ses intuitions.</a:t>
            </a:r>
          </a:p>
          <a:p>
            <a:pPr>
              <a:spcAft>
                <a:spcPts val="1200"/>
              </a:spcAft>
              <a:defRPr sz="1350">
                <a:solidFill>
                  <a:srgbClr val="F8FAFC"/>
                </a:solidFill>
              </a:defRPr>
            </a:pPr>
            <a:r>
              <a:t>•  Mesurer l'impact de ces moments de silence sur la productivité et la créativité à travers des indicateurs de performance adaptés.</a:t>
            </a:r>
          </a:p>
        </p:txBody>
      </p:sp>
      <p:pic>
        <p:nvPicPr>
          <p:cNvPr id="5" name="Picture 4" descr="slide_keyframe_01.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75%</a:t>
            </a:r>
          </a:p>
          <a:p>
            <a:pPr>
              <a:defRPr sz="1100">
                <a:solidFill>
                  <a:srgbClr val="94A3B8"/>
                </a:solidFill>
              </a:defRPr>
            </a:pPr>
            <a:r>
              <a:t>Professionnels submergés par les distractions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L'Énergie des Rêves : Une Source d'Inspiration</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Les rêves et l'imaginaire sont des ressources inexploitées pour l'innovation.</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Encourager la libre expression des idées au sein des équipes pour stimuler l'innovation et l'engagement.</a:t>
            </a:r>
          </a:p>
          <a:p>
            <a:pPr>
              <a:spcAft>
                <a:spcPts val="1200"/>
              </a:spcAft>
              <a:defRPr sz="1350">
                <a:solidFill>
                  <a:srgbClr val="F8FAFC"/>
                </a:solidFill>
              </a:defRPr>
            </a:pPr>
            <a:r>
              <a:t>•  Organiser des sessions de brainstorming où toutes les idées sont acceptées, favorisant ainsi un climat de créativité.</a:t>
            </a:r>
          </a:p>
          <a:p>
            <a:pPr>
              <a:spcAft>
                <a:spcPts val="1200"/>
              </a:spcAft>
              <a:defRPr sz="1350">
                <a:solidFill>
                  <a:srgbClr val="F8FAFC"/>
                </a:solidFill>
              </a:defRPr>
            </a:pPr>
            <a:r>
              <a:t>•  Utiliser des techniques créatives comme le doodling ou l'écriture libre pour débloquer la pensée et explorer de nouvelles avenues.</a:t>
            </a:r>
          </a:p>
        </p:txBody>
      </p:sp>
      <p:pic>
        <p:nvPicPr>
          <p:cNvPr id="5" name="Picture 4" descr="slide_keyframe_02.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3 techniques</a:t>
            </a:r>
          </a:p>
          <a:p>
            <a:pPr>
              <a:defRPr sz="1100">
                <a:solidFill>
                  <a:srgbClr val="94A3B8"/>
                </a:solidFill>
              </a:defRPr>
            </a:pPr>
            <a:r>
              <a:t>Approches créatives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L'Art de Lâcher Prise : Une Nécessité pour Créer</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Le lâcher-prise est essentiel pour stimuler la créativité.</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Mettre en place des politiques de bien-être au travail pour favoriser un équilibre entre vie professionnelle et personnelle.</a:t>
            </a:r>
          </a:p>
          <a:p>
            <a:pPr>
              <a:spcAft>
                <a:spcPts val="1200"/>
              </a:spcAft>
              <a:defRPr sz="1350">
                <a:solidFill>
                  <a:srgbClr val="F8FAFC"/>
                </a:solidFill>
              </a:defRPr>
            </a:pPr>
            <a:r>
              <a:t>•  Encourager les employés à prendre des pauses régulières pour recharger leurs batteries et stimuler leur créativité.</a:t>
            </a:r>
          </a:p>
          <a:p>
            <a:pPr>
              <a:spcAft>
                <a:spcPts val="1200"/>
              </a:spcAft>
              <a:defRPr sz="1350">
                <a:solidFill>
                  <a:srgbClr val="F8FAFC"/>
                </a:solidFill>
              </a:defRPr>
            </a:pPr>
            <a:r>
              <a:t>•  Évaluer l'impact des initiatives de bien-être sur la créativité et la productivité à travers des enquêtes et des indicateurs de performance.</a:t>
            </a:r>
          </a:p>
        </p:txBody>
      </p:sp>
      <p:pic>
        <p:nvPicPr>
          <p:cNvPr id="5" name="Picture 4" descr="slide_keyframe_03.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100%</a:t>
            </a:r>
          </a:p>
          <a:p>
            <a:pPr>
              <a:defRPr sz="1100">
                <a:solidFill>
                  <a:srgbClr val="94A3B8"/>
                </a:solidFill>
              </a:defRPr>
            </a:pPr>
            <a:r>
              <a:t>Nécessité de prioriser le bien-être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Mise en Pratique des Stratégies Créatives</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L'intégration des stratégies créatives nécessite un engagement collectif.</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Intégrer les stratégies créatives dans la culture d'entreprise pour favoriser un environnement propice à l'innovation.</a:t>
            </a:r>
          </a:p>
          <a:p>
            <a:pPr>
              <a:spcAft>
                <a:spcPts val="1200"/>
              </a:spcAft>
              <a:defRPr sz="1350">
                <a:solidFill>
                  <a:srgbClr val="F8FAFC"/>
                </a:solidFill>
              </a:defRPr>
            </a:pPr>
            <a:r>
              <a:t>•  Proposer des formations sur des techniques de créativité et de gestion du stress pour outiller les employés.</a:t>
            </a:r>
          </a:p>
          <a:p>
            <a:pPr>
              <a:spcAft>
                <a:spcPts val="1200"/>
              </a:spcAft>
              <a:defRPr sz="1350">
                <a:solidFill>
                  <a:srgbClr val="F8FAFC"/>
                </a:solidFill>
              </a:defRPr>
            </a:pPr>
            <a:r>
              <a:t>•  Célébrer les réussites créatives pour encourager la prise de risque et l'innovation au sein des équipes.</a:t>
            </a:r>
          </a:p>
        </p:txBody>
      </p:sp>
      <p:pic>
        <p:nvPicPr>
          <p:cNvPr id="5" name="Picture 4" descr="slide_keyframe_04.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3 initiatives</a:t>
            </a:r>
          </a:p>
          <a:p>
            <a:pPr>
              <a:defRPr sz="1100">
                <a:solidFill>
                  <a:srgbClr val="94A3B8"/>
                </a:solidFill>
              </a:defRPr>
            </a:pPr>
            <a:r>
              <a:t>Actions recommandées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Évaluation de l'Impact des Stratégies sur la Créativité</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L'évaluation continue est essentielle pour maintenir l'efficacité des stratégies créatives.</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Définir des indicateurs de performance pour mesurer l'impact des stratégies créatives sur la satisfaction et l'innovation.</a:t>
            </a:r>
          </a:p>
          <a:p>
            <a:pPr>
              <a:spcAft>
                <a:spcPts val="1200"/>
              </a:spcAft>
              <a:defRPr sz="1350">
                <a:solidFill>
                  <a:srgbClr val="F8FAFC"/>
                </a:solidFill>
              </a:defRPr>
            </a:pPr>
            <a:r>
              <a:t>•  Instaurer des feedbacks réguliers pour ajuster les pratiques et améliorer continuellement les processus créatifs.</a:t>
            </a:r>
          </a:p>
          <a:p>
            <a:pPr>
              <a:spcAft>
                <a:spcPts val="1200"/>
              </a:spcAft>
              <a:defRPr sz="1350">
                <a:solidFill>
                  <a:srgbClr val="F8FAFC"/>
                </a:solidFill>
              </a:defRPr>
            </a:pPr>
            <a:r>
              <a:t>•  Communiquer les résultats obtenus pour renforcer l'engagement des employés et valoriser les efforts créatifs.</a:t>
            </a:r>
          </a:p>
        </p:txBody>
      </p:sp>
      <p:pic>
        <p:nvPicPr>
          <p:cNvPr id="5" name="Picture 4" descr="slide_keyframe_05.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5 indicateurs</a:t>
            </a:r>
          </a:p>
          <a:p>
            <a:pPr>
              <a:defRPr sz="1100">
                <a:solidFill>
                  <a:srgbClr val="94A3B8"/>
                </a:solidFill>
              </a:defRPr>
            </a:pPr>
            <a:r>
              <a:t>Mesures de performance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Conclusion : Un Voyage Créatif Continu</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La créativité est un voyage, pas une destination.</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Encourager une culture d'expérimentation et d'innovation continue au sein des équipes.</a:t>
            </a:r>
          </a:p>
          <a:p>
            <a:pPr>
              <a:spcAft>
                <a:spcPts val="1200"/>
              </a:spcAft>
              <a:defRPr sz="1350">
                <a:solidFill>
                  <a:srgbClr val="F8FAFC"/>
                </a:solidFill>
              </a:defRPr>
            </a:pPr>
            <a:r>
              <a:t>•  Rappeler que chaque échec est une opportunité d'apprentissage et de croissance.</a:t>
            </a:r>
          </a:p>
          <a:p>
            <a:pPr>
              <a:spcAft>
                <a:spcPts val="1200"/>
              </a:spcAft>
              <a:defRPr sz="1350">
                <a:solidFill>
                  <a:srgbClr val="F8FAFC"/>
                </a:solidFill>
              </a:defRPr>
            </a:pPr>
            <a:r>
              <a:t>•  Promouvoir l'idée que la créativité peut être cultivée et développée avec le temps.</a:t>
            </a:r>
          </a:p>
        </p:txBody>
      </p:sp>
      <p:pic>
        <p:nvPicPr>
          <p:cNvPr id="5" name="Picture 4" descr="slide_keyframe_06.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100%</a:t>
            </a:r>
          </a:p>
          <a:p>
            <a:pPr>
              <a:defRPr sz="1100">
                <a:solidFill>
                  <a:srgbClr val="94A3B8"/>
                </a:solidFill>
              </a:defRPr>
            </a:pPr>
            <a:r>
              <a:t>Engagement envers l'innovation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Appel à l'Action : Libérer Votre Créativité</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Chaque individu a le potentiel de créer des chefs-d'œuvre.</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Inviter les participants à mettre en pratique les stratégies discutées dans leur quotidien.</a:t>
            </a:r>
          </a:p>
          <a:p>
            <a:pPr>
              <a:spcAft>
                <a:spcPts val="1200"/>
              </a:spcAft>
              <a:defRPr sz="1350">
                <a:solidFill>
                  <a:srgbClr val="F8FAFC"/>
                </a:solidFill>
              </a:defRPr>
            </a:pPr>
            <a:r>
              <a:t>•  Encourager à partager leurs expériences et découvertes avec leurs collègues.</a:t>
            </a:r>
          </a:p>
          <a:p>
            <a:pPr>
              <a:spcAft>
                <a:spcPts val="1200"/>
              </a:spcAft>
              <a:defRPr sz="1350">
                <a:solidFill>
                  <a:srgbClr val="F8FAFC"/>
                </a:solidFill>
              </a:defRPr>
            </a:pPr>
            <a:r>
              <a:t>•  Promouvoir une communauté de soutien autour de la créativité au sein de l'organisation.</a:t>
            </a:r>
          </a:p>
        </p:txBody>
      </p:sp>
      <p:pic>
        <p:nvPicPr>
          <p:cNvPr id="5" name="Picture 4" descr="slide_keyframe_07.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1 action</a:t>
            </a:r>
          </a:p>
          <a:p>
            <a:pPr>
              <a:defRPr sz="1100">
                <a:solidFill>
                  <a:srgbClr val="94A3B8"/>
                </a:solidFill>
              </a:defRPr>
            </a:pPr>
            <a:r>
              <a:t>Engagement personnel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Ressources Supplémentaires</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Accéder à des outils et des lectures pour approfondir la créativité.</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Recommander des livres et des articles sur la créativité et l'innovation.</a:t>
            </a:r>
          </a:p>
          <a:p>
            <a:pPr>
              <a:spcAft>
                <a:spcPts val="1200"/>
              </a:spcAft>
              <a:defRPr sz="1350">
                <a:solidFill>
                  <a:srgbClr val="F8FAFC"/>
                </a:solidFill>
              </a:defRPr>
            </a:pPr>
            <a:r>
              <a:t>•  Proposer des ateliers et des formations pour développer des compétences créatives.</a:t>
            </a:r>
          </a:p>
          <a:p>
            <a:pPr>
              <a:spcAft>
                <a:spcPts val="1200"/>
              </a:spcAft>
              <a:defRPr sz="1350">
                <a:solidFill>
                  <a:srgbClr val="F8FAFC"/>
                </a:solidFill>
              </a:defRPr>
            </a:pPr>
            <a:r>
              <a:t>•  Mettre à disposition des outils de gestion de projet qui favorisent la créativité.</a:t>
            </a:r>
          </a:p>
        </p:txBody>
      </p:sp>
      <p:pic>
        <p:nvPicPr>
          <p:cNvPr id="5" name="Picture 4" descr="slide_keyframe_08.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3 ressources</a:t>
            </a:r>
          </a:p>
          <a:p>
            <a:pPr>
              <a:defRPr sz="1100">
                <a:solidFill>
                  <a:srgbClr val="94A3B8"/>
                </a:solidFill>
              </a:defRPr>
            </a:pPr>
            <a:r>
              <a:t>Outils recommandés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731520"/>
          </a:xfrm>
          <a:prstGeom prst="rect">
            <a:avLst/>
          </a:prstGeom>
          <a:noFill/>
        </p:spPr>
        <p:txBody>
          <a:bodyPr wrap="square">
            <a:spAutoFit/>
          </a:bodyPr>
          <a:lstStyle/>
          <a:p>
            <a:pPr>
              <a:defRPr sz="2400" b="1">
                <a:solidFill>
                  <a:srgbClr val="38BDF8"/>
                </a:solidFill>
              </a:defRPr>
            </a:pPr>
            <a:r>
              <a:t>Questions et Réponses</a:t>
            </a:r>
          </a:p>
        </p:txBody>
      </p:sp>
      <p:sp>
        <p:nvSpPr>
          <p:cNvPr id="3" name="TextBox 2"/>
          <p:cNvSpPr txBox="1"/>
          <p:nvPr/>
        </p:nvSpPr>
        <p:spPr>
          <a:xfrm>
            <a:off x="731520" y="1143000"/>
            <a:ext cx="10698480" cy="502920"/>
          </a:xfrm>
          <a:prstGeom prst="rect">
            <a:avLst/>
          </a:prstGeom>
          <a:noFill/>
        </p:spPr>
        <p:txBody>
          <a:bodyPr wrap="square">
            <a:spAutoFit/>
          </a:bodyPr>
          <a:lstStyle/>
          <a:p>
            <a:pPr>
              <a:defRPr sz="1300" i="1">
                <a:solidFill>
                  <a:srgbClr val="BAE6FD"/>
                </a:solidFill>
              </a:defRPr>
            </a:pPr>
            <a:r>
              <a:t>Enseignement clé : Un moment pour échanger et clarifier les idées.</a:t>
            </a:r>
          </a:p>
        </p:txBody>
      </p:sp>
      <p:sp>
        <p:nvSpPr>
          <p:cNvPr id="4" name="TextBox 3"/>
          <p:cNvSpPr txBox="1"/>
          <p:nvPr/>
        </p:nvSpPr>
        <p:spPr>
          <a:xfrm>
            <a:off x="731520" y="1645920"/>
            <a:ext cx="5486400" cy="4846320"/>
          </a:xfrm>
          <a:prstGeom prst="rect">
            <a:avLst/>
          </a:prstGeom>
          <a:noFill/>
        </p:spPr>
        <p:txBody>
          <a:bodyPr wrap="square">
            <a:spAutoFit/>
          </a:bodyPr>
          <a:lstStyle/>
          <a:p>
            <a:pPr>
              <a:spcAft>
                <a:spcPts val="1200"/>
              </a:spcAft>
              <a:defRPr sz="1350">
                <a:solidFill>
                  <a:srgbClr val="F8FAFC"/>
                </a:solidFill>
              </a:defRPr>
            </a:pPr>
            <a:r>
              <a:t>•  Inviter les participants à poser des questions sur les stratégies présentées.</a:t>
            </a:r>
          </a:p>
          <a:p>
            <a:pPr>
              <a:spcAft>
                <a:spcPts val="1200"/>
              </a:spcAft>
              <a:defRPr sz="1350">
                <a:solidFill>
                  <a:srgbClr val="F8FAFC"/>
                </a:solidFill>
              </a:defRPr>
            </a:pPr>
            <a:r>
              <a:t>•  Encourager le partage d'expériences personnelles liées à la créativité.</a:t>
            </a:r>
          </a:p>
          <a:p>
            <a:pPr>
              <a:spcAft>
                <a:spcPts val="1200"/>
              </a:spcAft>
              <a:defRPr sz="1350">
                <a:solidFill>
                  <a:srgbClr val="F8FAFC"/>
                </a:solidFill>
              </a:defRPr>
            </a:pPr>
            <a:r>
              <a:t>•  Créer un espace de dialogue ouvert pour favoriser l'échange d'idées.</a:t>
            </a:r>
          </a:p>
        </p:txBody>
      </p:sp>
      <p:pic>
        <p:nvPicPr>
          <p:cNvPr id="5" name="Picture 4" descr="slide_keyframe_09.jpg"/>
          <p:cNvPicPr>
            <a:picLocks noChangeAspect="1"/>
          </p:cNvPicPr>
          <p:nvPr/>
        </p:nvPicPr>
        <p:blipFill>
          <a:blip r:embed="rId3"/>
          <a:stretch>
            <a:fillRect/>
          </a:stretch>
        </p:blipFill>
        <p:spPr>
          <a:xfrm>
            <a:off x="6492240" y="1645920"/>
            <a:ext cx="4937760" cy="2775322"/>
          </a:xfrm>
          <a:prstGeom prst="rect">
            <a:avLst/>
          </a:prstGeom>
        </p:spPr>
      </p:pic>
      <p:sp>
        <p:nvSpPr>
          <p:cNvPr id="6" name="TextBox 5"/>
          <p:cNvSpPr txBox="1"/>
          <p:nvPr/>
        </p:nvSpPr>
        <p:spPr>
          <a:xfrm>
            <a:off x="6492240" y="4892040"/>
            <a:ext cx="4937760" cy="1188720"/>
          </a:xfrm>
          <a:prstGeom prst="rect">
            <a:avLst/>
          </a:prstGeom>
          <a:noFill/>
        </p:spPr>
        <p:txBody>
          <a:bodyPr wrap="square">
            <a:spAutoFit/>
          </a:bodyPr>
          <a:lstStyle/>
          <a:p>
            <a:pPr>
              <a:defRPr sz="2200" b="1">
                <a:solidFill>
                  <a:srgbClr val="38BDF8"/>
                </a:solidFill>
              </a:defRPr>
            </a:pPr>
            <a:r>
              <a:t>0</a:t>
            </a:r>
          </a:p>
          <a:p>
            <a:pPr>
              <a:defRPr sz="1100">
                <a:solidFill>
                  <a:srgbClr val="94A3B8"/>
                </a:solidFill>
              </a:defRPr>
            </a:pPr>
            <a:r>
              <a:t>Questions posées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