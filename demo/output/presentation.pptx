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2011680"/>
            <a:ext cx="9445752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400" b="1">
                <a:solidFill>
                  <a:srgbClr val="38BDF8"/>
                </a:solidFill>
              </a:defRPr>
            </a:pPr>
            <a:r>
              <a:t>stimuler la créativité</a:t>
            </a:r>
          </a:p>
          <a:p>
            <a:pPr>
              <a:spcBef>
                <a:spcPts val="2000"/>
              </a:spcBef>
              <a:defRPr sz="2200">
                <a:solidFill>
                  <a:srgbClr val="94A3B8"/>
                </a:solidFill>
              </a:defRPr>
            </a:pPr>
            <a:r>
              <a:t>Session sur les Stratégies Créatives avec Zoe Hames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38BDF8"/>
                </a:solidFill>
              </a:defRPr>
            </a:pPr>
            <a:r>
              <a:t>Contexte et problématique centrale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53035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1700">
                <a:solidFill>
                  <a:srgbClr val="F8FAFC"/>
                </a:solidFill>
              </a:defRPr>
            </a:pPr>
            <a:r>
              <a:t>•  L'impact des distractions sur la créativité</a:t>
            </a:r>
          </a:p>
          <a:p>
            <a:pPr>
              <a:spcAft>
                <a:spcPts val="1600"/>
              </a:spcAft>
              <a:defRPr sz="1700">
                <a:solidFill>
                  <a:srgbClr val="F8FAFC"/>
                </a:solidFill>
              </a:defRPr>
            </a:pPr>
            <a:r>
              <a:t>•  Nécessité de trouver des moments de calme</a:t>
            </a:r>
          </a:p>
          <a:p>
            <a:pPr>
              <a:spcAft>
                <a:spcPts val="1600"/>
              </a:spcAft>
              <a:defRPr sz="1700">
                <a:solidFill>
                  <a:srgbClr val="F8FAFC"/>
                </a:solidFill>
              </a:defRPr>
            </a:pPr>
            <a:r>
              <a:t>•  Importance de la reconnexion à soi</a:t>
            </a:r>
          </a:p>
        </p:txBody>
      </p:sp>
      <p:pic>
        <p:nvPicPr>
          <p:cNvPr id="4" name="Picture 3" descr="slide_keyframe_0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645920"/>
            <a:ext cx="5029200" cy="2826717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38BDF8"/>
                </a:solidFill>
              </a:defRPr>
            </a:pPr>
            <a:r>
              <a:t>Importance du Calme dans un Monde Distrayant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53035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1700">
                <a:solidFill>
                  <a:srgbClr val="F8FAFC"/>
                </a:solidFill>
              </a:defRPr>
            </a:pPr>
            <a:r>
              <a:t>•  Carver du temps quotidien pour le silence</a:t>
            </a:r>
          </a:p>
          <a:p>
            <a:pPr>
              <a:spcAft>
                <a:spcPts val="1600"/>
              </a:spcAft>
              <a:defRPr sz="1700">
                <a:solidFill>
                  <a:srgbClr val="F8FAFC"/>
                </a:solidFill>
              </a:defRPr>
            </a:pPr>
            <a:r>
              <a:t>•  Pratiquer des activités en pleine nature</a:t>
            </a:r>
          </a:p>
        </p:txBody>
      </p:sp>
      <p:pic>
        <p:nvPicPr>
          <p:cNvPr id="4" name="Picture 3" descr="slide_keyframe_0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645920"/>
            <a:ext cx="5029200" cy="2826717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38BDF8"/>
                </a:solidFill>
              </a:defRPr>
            </a:pPr>
            <a:r>
              <a:t>Exploiter le Pouvoir des Rêves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53035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1700">
                <a:solidFill>
                  <a:srgbClr val="F8FAFC"/>
                </a:solidFill>
              </a:defRPr>
            </a:pPr>
            <a:r>
              <a:t>•  Accorder du temps à des activités ludiques</a:t>
            </a:r>
          </a:p>
          <a:p>
            <a:pPr>
              <a:spcAft>
                <a:spcPts val="1600"/>
              </a:spcAft>
              <a:defRPr sz="1700">
                <a:solidFill>
                  <a:srgbClr val="F8FAFC"/>
                </a:solidFill>
              </a:defRPr>
            </a:pPr>
            <a:r>
              <a:t>•  Noter les idées sans autocensure</a:t>
            </a:r>
          </a:p>
        </p:txBody>
      </p:sp>
      <p:pic>
        <p:nvPicPr>
          <p:cNvPr id="4" name="Picture 3" descr="slide_keyframe_0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645920"/>
            <a:ext cx="5029200" cy="2826717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38BDF8"/>
                </a:solidFill>
              </a:defRPr>
            </a:pPr>
            <a:r>
              <a:t>L'Art de Lâcher Prise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53035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1700">
                <a:solidFill>
                  <a:srgbClr val="F8FAFC"/>
                </a:solidFill>
              </a:defRPr>
            </a:pPr>
            <a:r>
              <a:t>•  Établir des limites claires pour éviter l'épuisement</a:t>
            </a:r>
          </a:p>
          <a:p>
            <a:pPr>
              <a:spcAft>
                <a:spcPts val="1600"/>
              </a:spcAft>
              <a:defRPr sz="1700">
                <a:solidFill>
                  <a:srgbClr val="F8FAFC"/>
                </a:solidFill>
              </a:defRPr>
            </a:pPr>
            <a:r>
              <a:t>•  S'accorder des pauses régulières</a:t>
            </a:r>
          </a:p>
        </p:txBody>
      </p:sp>
      <p:pic>
        <p:nvPicPr>
          <p:cNvPr id="4" name="Picture 3" descr="slide_keyframe_0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645920"/>
            <a:ext cx="5029200" cy="2826717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38BDF8"/>
                </a:solidFill>
              </a:defRPr>
            </a:pPr>
            <a:r>
              <a:t>Pratiques Quotidiennes pour Stimuler la Créativité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53035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1700">
                <a:solidFill>
                  <a:srgbClr val="F8FAFC"/>
                </a:solidFill>
              </a:defRPr>
            </a:pPr>
            <a:r>
              <a:t>•  Méditation quotidienne</a:t>
            </a:r>
          </a:p>
          <a:p>
            <a:pPr>
              <a:spcAft>
                <a:spcPts val="1600"/>
              </a:spcAft>
              <a:defRPr sz="1700">
                <a:solidFill>
                  <a:srgbClr val="F8FAFC"/>
                </a:solidFill>
              </a:defRPr>
            </a:pPr>
            <a:r>
              <a:t>•  Balades en pleine nature</a:t>
            </a:r>
          </a:p>
        </p:txBody>
      </p:sp>
      <p:pic>
        <p:nvPicPr>
          <p:cNvPr id="4" name="Picture 3" descr="slide_keyframe_0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645920"/>
            <a:ext cx="5029200" cy="2826717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38BDF8"/>
                </a:solidFill>
              </a:defRPr>
            </a:pPr>
            <a:r>
              <a:t>Conclusion et Prochaines Étapes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53035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1700">
                <a:solidFill>
                  <a:srgbClr val="F8FAFC"/>
                </a:solidFill>
              </a:defRPr>
            </a:pPr>
            <a:r>
              <a:t>•  Mettre en pratique ces stratégies régulièrement</a:t>
            </a:r>
          </a:p>
          <a:p>
            <a:pPr>
              <a:spcAft>
                <a:spcPts val="1600"/>
              </a:spcAft>
              <a:defRPr sz="1700">
                <a:solidFill>
                  <a:srgbClr val="F8FAFC"/>
                </a:solidFill>
              </a:defRPr>
            </a:pPr>
            <a:r>
              <a:t>•  S'engager dans un processus d'apprentissage continu</a:t>
            </a:r>
          </a:p>
        </p:txBody>
      </p:sp>
      <p:pic>
        <p:nvPicPr>
          <p:cNvPr id="4" name="Picture 3" descr="slide_keyframe_0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645920"/>
            <a:ext cx="5029200" cy="2826717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38BDF8"/>
                </a:solidFill>
              </a:defRPr>
            </a:pPr>
            <a:r>
              <a:t>Synthèse des Stratégies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53035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1700">
                <a:solidFill>
                  <a:srgbClr val="F8FAFC"/>
                </a:solidFill>
              </a:defRPr>
            </a:pPr>
            <a:r>
              <a:t>•  Trouver le calme pour favoriser l'inspiration</a:t>
            </a:r>
          </a:p>
          <a:p>
            <a:pPr>
              <a:spcAft>
                <a:spcPts val="1600"/>
              </a:spcAft>
              <a:defRPr sz="1700">
                <a:solidFill>
                  <a:srgbClr val="F8FAFC"/>
                </a:solidFill>
              </a:defRPr>
            </a:pPr>
            <a:r>
              <a:t>•  Exploiter les rêves pour libérer l'imagination</a:t>
            </a:r>
          </a:p>
        </p:txBody>
      </p:sp>
      <p:pic>
        <p:nvPicPr>
          <p:cNvPr id="4" name="Picture 3" descr="slide_keyframe_0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645920"/>
            <a:ext cx="5029200" cy="2826717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38BDF8"/>
                </a:solidFill>
              </a:defRPr>
            </a:pPr>
            <a:r>
              <a:t>Engagement vers la Créativité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53035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1700">
                <a:solidFill>
                  <a:srgbClr val="F8FAFC"/>
                </a:solidFill>
              </a:defRPr>
            </a:pPr>
            <a:r>
              <a:t>•  Encourager l'expérimentation</a:t>
            </a:r>
          </a:p>
          <a:p>
            <a:pPr>
              <a:spcAft>
                <a:spcPts val="1600"/>
              </a:spcAft>
              <a:defRPr sz="1700">
                <a:solidFill>
                  <a:srgbClr val="F8FAFC"/>
                </a:solidFill>
              </a:defRPr>
            </a:pPr>
            <a:r>
              <a:t>•  Accepter les erreurs comme partie du processus</a:t>
            </a:r>
          </a:p>
        </p:txBody>
      </p:sp>
      <p:pic>
        <p:nvPicPr>
          <p:cNvPr id="4" name="Picture 3" descr="slide_keyframe_0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645920"/>
            <a:ext cx="5029200" cy="2826717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38BDF8"/>
                </a:solidFill>
              </a:defRPr>
            </a:pPr>
            <a:r>
              <a:t>Questions et Échanges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53035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1700">
                <a:solidFill>
                  <a:srgbClr val="F8FAFC"/>
                </a:solidFill>
              </a:defRPr>
            </a:pPr>
            <a:r>
              <a:t>•  Ouverture aux questions</a:t>
            </a:r>
          </a:p>
          <a:p>
            <a:pPr>
              <a:spcAft>
                <a:spcPts val="1600"/>
              </a:spcAft>
              <a:defRPr sz="1700">
                <a:solidFill>
                  <a:srgbClr val="F8FAFC"/>
                </a:solidFill>
              </a:defRPr>
            </a:pPr>
            <a:r>
              <a:t>•  Partage d'expériences personnelles</a:t>
            </a:r>
          </a:p>
        </p:txBody>
      </p:sp>
      <p:pic>
        <p:nvPicPr>
          <p:cNvPr id="4" name="Picture 3" descr="slide_keyframe_0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645920"/>
            <a:ext cx="5029200" cy="2826717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